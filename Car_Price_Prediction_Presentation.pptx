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D99A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Linear
Regression</c:v>
                  </c:pt>
                  <c:pt idx="1">
                    <c:v>Random Forest
Regressor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0.38</c:v>
                </c:pt>
                <c:pt idx="1">
                  <c:v>0.785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CDF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builds a machine learning model that estimates a fair market price for a used car, based on things like its age, mileage, engine specs, and condition. The idea is simple: both buyers and dealerships benefit from pricing that's grounded in real data rather than instinct. I'll walk through the tools I used, how I built the pipeline, the messy-data problems I ran into, and finally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a standard Python data science toolkit. Pandas and NumPy handled all the messy cleaning work, Scikit-learn trained and evaluated the regression models, and Matplotlib and Seaborn produced the comparison charts. I worked in Colab and VS Code and tracked everything in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runs through five stages. I started by cleaning up messy text in the raw columns, then fixed a set of corrupted values and removed unrealistic outliers. From there I engineered new features like vehicle age, benchmarked three different regression models, and finished with a full evaluation using R-squared, MAE, and RMSE alongside a manual sample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real challenges shaped this project. The raw data mixed text into numeric fields — things like 'km' stuck to mileage — so I cleaned those with regex. Excel had also silently corrupted door-count values into dates, which I had to detect and map back manually. And the biggest modelling challenge was that car depreciation isn't linear, so switching to a Random Forest Regressor made a huge difference to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results make a clear case for non-linear modelling. Linear Regression only reached an R-squared of about 0.38, but the Random Forest Regressor pushed that up to somewhere between 0.75 and 0.82, with a much lower average dollar error. The biggest price drivers were engine volume, vehicle age, mileage, and airbags, and when I audited real versus predicted prices on unseen test cars, the model tracked market value well across budget, mid-range, and premium vehicles alike.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 NEXUS VIRTUAL INTERNSHIP  ·  DATA SCIENCE INTERN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Price Prediction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Machine Learning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vehicle age, mileage, and specs into a fair, data-driven market price.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27832"/>
            <a:ext cx="256032" cy="256032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27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08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  </a:t>
            </a:r>
            <a:pPr indent="0" marL="0">
              <a:buNone/>
            </a:pPr>
            <a:r>
              <a:rPr lang="en-US" sz="1350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used car's fair market value from its real, measurable attributes.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256032" cy="256032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85876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context  </a:t>
            </a:r>
            <a:pPr indent="0" marL="0">
              <a:buNone/>
            </a:pPr>
            <a:r>
              <a:rPr lang="en-US" sz="1350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and dealerships both need pricing grounded in data, not guesswork.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727448"/>
            <a:ext cx="256032" cy="256032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727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608576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</a:t>
            </a:r>
            <a:pPr indent="0" marL="0">
              <a:buNone/>
            </a:pPr>
            <a:r>
              <a:rPr lang="en-US" sz="1350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levy, manufacturer, year, category, mileage, engine, gearbox, drive, airbags, doors.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477256"/>
            <a:ext cx="256032" cy="256032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477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535838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inputs  </a:t>
            </a:r>
            <a:pPr indent="0" marL="0">
              <a:buNone/>
            </a:pPr>
            <a:r>
              <a:rPr lang="en-US" sz="1350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age, mileage, engine specs, and physical condition drive the valuation.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086600" y="2880360"/>
            <a:ext cx="3017520" cy="960120"/>
          </a:xfrm>
          <a:prstGeom prst="roundRect">
            <a:avLst>
              <a:gd name="adj" fmla="val 8571"/>
            </a:avLst>
          </a:prstGeom>
          <a:solidFill>
            <a:srgbClr val="343B4D"/>
          </a:solidFill>
          <a:ln w="12700">
            <a:solidFill>
              <a:srgbClr val="343B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0" y="2999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Data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• Mileage • Engine • Condition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858768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86600" y="4160520"/>
            <a:ext cx="3017520" cy="960120"/>
          </a:xfrm>
          <a:prstGeom prst="roundRect">
            <a:avLst>
              <a:gd name="adj" fmla="val 8571"/>
            </a:avLst>
          </a:prstGeom>
          <a:solidFill>
            <a:srgbClr val="343B4D"/>
          </a:solidFill>
          <a:ln w="12700">
            <a:solidFill>
              <a:srgbClr val="343B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0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617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historical listings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5138928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086600" y="5440680"/>
            <a:ext cx="3017520" cy="960120"/>
          </a:xfrm>
          <a:prstGeom prst="roundRect">
            <a:avLst>
              <a:gd name="adj" fmla="val 8571"/>
            </a:avLst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5559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Price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5897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market estimate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stack behind cleaning, modelling, and evaluating the pricing engine.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3100" y="2359152"/>
            <a:ext cx="731520" cy="731520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43100" y="23591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478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full pipeline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92140" y="2359152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92140" y="23591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200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5478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numeric transforms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1031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41180" y="2359152"/>
            <a:ext cx="731520" cy="731520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41180" y="23591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200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5478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 &amp; evaluation metrics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43100" y="4599432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943100" y="4599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440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7881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for EDA and model comparison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4343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92140" y="4599432"/>
            <a:ext cx="731520" cy="731520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92140" y="4599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5440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/ VS Code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57881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43434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441180" y="4599432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41180" y="4599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5440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57881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project hosting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Implementation Workflow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messy raw listings to a benchmarked, evaluated pricing model.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12264" cy="288036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2164" y="2221992"/>
            <a:ext cx="585216" cy="585216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12164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7180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4904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text units (“km”), fixed Levy “-” values, extracted a binary Turbo feature.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660904" y="31775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98064" y="1965960"/>
            <a:ext cx="2112264" cy="288036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1588" y="2221992"/>
            <a:ext cx="585216" cy="585216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1588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935224" y="297180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80944" y="374904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corrupted door-count values, removed extreme price &amp; mileage outliers.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1775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47488" y="1965960"/>
            <a:ext cx="2112264" cy="288036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11012" y="2221992"/>
            <a:ext cx="585216" cy="585216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11012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184648" y="297180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374904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Vehicle_Age, grouped rare brands as “Other”, applied One-Hot Encoding.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31775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96912" y="1965960"/>
            <a:ext cx="2112264" cy="288036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60436" y="2221992"/>
            <a:ext cx="585216" cy="585216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60436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434072" y="297180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374904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split; trained Linear, Ridge Regression, and Random Forest Regressor.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409176" y="31775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546336" y="1965960"/>
            <a:ext cx="2112264" cy="288036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09860" y="2221992"/>
            <a:ext cx="585216" cy="585216"/>
          </a:xfrm>
          <a:prstGeom prst="ellipse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09860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683496" y="2971800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729216" y="374904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R², MAE, RMSE; audited actual vs. predicted prices on test cars.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builds on the last — clean inputs make feature engineering reliable, and reliable features make model comparisons fair.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Technical Difficulties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3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messy real-world data problems — and exactly how each one was fixed.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4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9631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carried “km” as text, and engine size embedded “Turbo” as a word — both broke numeric analysis.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4E3E2"/>
          </a:solidFill>
          <a:ln w="12700">
            <a:solidFill>
              <a:srgbClr val="F4E3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657600"/>
            <a:ext cx="14173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BF4342"/>
                </a:solidFill>
              </a:rPr>
              <a:t>BEFORE
</a:t>
            </a:r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BF4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150000 km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365760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23160" y="36576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DCEEEA"/>
          </a:solidFill>
          <a:ln w="12700">
            <a:solidFill>
              <a:srgbClr val="DCEE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23160" y="3657600"/>
            <a:ext cx="14173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2A9D8F"/>
                </a:solidFill>
              </a:rPr>
              <a:t>AFTER
</a:t>
            </a:r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150000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98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9145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regex &amp; string-cleaning functions to convert both into pure numeric values, extracting Turbo as its own flag.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1965960"/>
            <a:ext cx="3566160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1772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4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49631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software auto-converted “4-5 doors” into the date “04-May”, silently corrupting the column.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576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4E3E2"/>
          </a:solidFill>
          <a:ln w="12700">
            <a:solidFill>
              <a:srgbClr val="F4E3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3657600"/>
            <a:ext cx="14173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BF4342"/>
                </a:solidFill>
              </a:rPr>
              <a:t>BEFORE
</a:t>
            </a:r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BF4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04-May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65760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36576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DCEEEA"/>
          </a:solidFill>
          <a:ln w="12700">
            <a:solidFill>
              <a:srgbClr val="DCEE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3657600"/>
            <a:ext cx="14173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2A9D8F"/>
                </a:solidFill>
              </a:rPr>
              <a:t>AFTER
</a:t>
            </a:r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4-5 doors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498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479145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corrupted date strings and mapped them back to their correct categorical door-count labels.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1965960"/>
            <a:ext cx="3566160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76200" dist="25400" dir="5400000">
              <a:srgbClr val="1F243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41248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4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249631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depreciation is steep and non-linear — Linear Regression badly underfit the true price curve.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0" y="36576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4E3E2"/>
          </a:solidFill>
          <a:ln w="12700">
            <a:solidFill>
              <a:srgbClr val="F4E3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0" y="3657600"/>
            <a:ext cx="14173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BF4342"/>
                </a:solidFill>
              </a:rPr>
              <a:t>BEFORE
</a:t>
            </a:r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BF4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≈ 0.38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9829800" y="365760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012680" y="36576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DCEEEA"/>
          </a:solidFill>
          <a:ln w="12700">
            <a:solidFill>
              <a:srgbClr val="DCEE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12680" y="3657600"/>
            <a:ext cx="14173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2A9D8F"/>
                </a:solidFill>
              </a:rPr>
              <a:t>AFTER
</a:t>
            </a:r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≈ 0.75–0.82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4498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479145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a Random Forest Regressor, which captured the non-linear curve and lifted R² substantially.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 &amp; Valuation Insights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captured real-world depreciation far better than a linear baseline.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— Model Comparison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33172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0749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*Random Forest R² ranged ≈ 0.75–0.82 across test runs (chart shows midpoint). Ridge Regression was also benchmarked as a regularized baseline.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1965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Valuation Drivers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331720"/>
            <a:ext cx="457200" cy="457200"/>
          </a:xfrm>
          <a:prstGeom prst="ellipse">
            <a:avLst/>
          </a:prstGeom>
          <a:solidFill>
            <a:srgbClr val="343B4D"/>
          </a:solidFill>
          <a:ln w="12700">
            <a:solidFill>
              <a:srgbClr val="343B4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22860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Volume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25511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Bigger, more powerful engines command a higher price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55080" y="3044952"/>
            <a:ext cx="457200" cy="457200"/>
          </a:xfrm>
          <a:prstGeom prst="ellipse">
            <a:avLst/>
          </a:prstGeom>
          <a:solidFill>
            <a:srgbClr val="343B4D"/>
          </a:solidFill>
          <a:ln w="12700">
            <a:solidFill>
              <a:srgbClr val="343B4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5508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949440" y="29992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Age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32644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driver of depreciation over time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55080" y="3758184"/>
            <a:ext cx="457200" cy="457200"/>
          </a:xfrm>
          <a:prstGeom prst="ellipse">
            <a:avLst/>
          </a:prstGeom>
          <a:solidFill>
            <a:srgbClr val="343B4D"/>
          </a:solidFill>
          <a:ln w="12700">
            <a:solidFill>
              <a:srgbClr val="343B4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5508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37124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3977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distance driven means more wear and tear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355080" y="4471416"/>
            <a:ext cx="457200" cy="457200"/>
          </a:xfrm>
          <a:prstGeom prst="ellipse">
            <a:avLst/>
          </a:prstGeom>
          <a:solidFill>
            <a:srgbClr val="343B4D"/>
          </a:solidFill>
          <a:ln w="12700">
            <a:solidFill>
              <a:srgbClr val="343B4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5508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44256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Airbags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469087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proxy for overall trim level and safety features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989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audits show predictions closely track real prices across budget, mid-range, and premium vehicles — confirming the model generalizes well.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2026-09-08T20:28:02Z</dcterms:created>
  <dcterms:modified xsi:type="dcterms:W3CDTF">2026-09-08T20:28:02Z</dcterms:modified>
</cp:coreProperties>
</file>